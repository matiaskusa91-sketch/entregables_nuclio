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5" r:id="rId8"/>
    <p:sldId id="266" r:id="rId9"/>
    <p:sldId id="267" r:id="rId10"/>
    <p:sldId id="261" r:id="rId11"/>
    <p:sldId id="274" r:id="rId12"/>
    <p:sldId id="268" r:id="rId13"/>
    <p:sldId id="275" r:id="rId14"/>
    <p:sldId id="262" r:id="rId15"/>
    <p:sldId id="272" r:id="rId16"/>
    <p:sldId id="273" r:id="rId17"/>
    <p:sldId id="276" r:id="rId18"/>
    <p:sldId id="277" r:id="rId19"/>
    <p:sldId id="278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1E329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gran-v%C3%ADa-madrid-spanien-968932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iudad con edificios altos">
            <a:extLst>
              <a:ext uri="{FF2B5EF4-FFF2-40B4-BE49-F238E27FC236}">
                <a16:creationId xmlns:a16="http://schemas.microsoft.com/office/drawing/2014/main" id="{F375F1DC-8206-687D-375D-59E985399B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251" y="54864"/>
            <a:ext cx="9086749" cy="67482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06705" y="1385182"/>
            <a:ext cx="672825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 err="1">
                <a:solidFill>
                  <a:srgbClr val="1E3296"/>
                </a:solidFill>
              </a:rPr>
              <a:t>Propiedades</a:t>
            </a:r>
            <a:r>
              <a:rPr sz="4000" b="1" dirty="0">
                <a:solidFill>
                  <a:srgbClr val="1E3296"/>
                </a:solidFill>
              </a:rPr>
              <a:t> Airbnb </a:t>
            </a:r>
            <a:r>
              <a:rPr sz="4000" b="1" dirty="0" err="1">
                <a:solidFill>
                  <a:srgbClr val="1E3296"/>
                </a:solidFill>
              </a:rPr>
              <a:t>en</a:t>
            </a:r>
            <a:r>
              <a:rPr sz="4000" b="1" dirty="0">
                <a:solidFill>
                  <a:srgbClr val="1E3296"/>
                </a:solidFill>
              </a:rPr>
              <a:t> Madrid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7981" y="2403490"/>
            <a:ext cx="53657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400" b="1" i="1" dirty="0"/>
              <a:t>Análisis del mercado de alquiler turístico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8322"/>
          </a:xfrm>
        </p:spPr>
        <p:txBody>
          <a:bodyPr>
            <a:normAutofit fontScale="90000"/>
          </a:bodyPr>
          <a:lstStyle/>
          <a:p>
            <a:r>
              <a:rPr lang="es-ES" sz="4000" b="1" dirty="0">
                <a:solidFill>
                  <a:srgbClr val="1E3296"/>
                </a:solidFill>
              </a:rPr>
              <a:t>Alquiler </a:t>
            </a:r>
            <a:r>
              <a:rPr sz="4000" b="1" dirty="0" err="1">
                <a:solidFill>
                  <a:srgbClr val="1E3296"/>
                </a:solidFill>
              </a:rPr>
              <a:t>turístico</a:t>
            </a:r>
            <a:r>
              <a:rPr sz="4000" b="1" dirty="0">
                <a:solidFill>
                  <a:srgbClr val="1E3296"/>
                </a:solidFill>
              </a:rPr>
              <a:t> </a:t>
            </a:r>
            <a:r>
              <a:rPr sz="4000" b="1" dirty="0" err="1">
                <a:solidFill>
                  <a:srgbClr val="1E3296"/>
                </a:solidFill>
              </a:rPr>
              <a:t>en</a:t>
            </a:r>
            <a:r>
              <a:rPr sz="4000" b="1" dirty="0">
                <a:solidFill>
                  <a:srgbClr val="1E3296"/>
                </a:solidFill>
              </a:rPr>
              <a:t> Madrid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272" y="3092687"/>
            <a:ext cx="4910328" cy="11238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b="1" dirty="0">
                <a:solidFill>
                  <a:srgbClr val="1E3296"/>
                </a:solidFill>
              </a:rPr>
              <a:t>Crecimiento sostenido de la oferta turística en Madrid</a:t>
            </a:r>
          </a:p>
          <a:p>
            <a:pPr marL="0" indent="0" algn="ctr">
              <a:buNone/>
            </a:pPr>
            <a:r>
              <a:rPr lang="es-ES" sz="1400" dirty="0"/>
              <a:t>La cantidad de viviendas de uso turístico ha aumentado en los últimos años, con decenas de miles de anuncios activos según </a:t>
            </a:r>
            <a:r>
              <a:rPr lang="es-ES" sz="1400" dirty="0" err="1"/>
              <a:t>AirDNA</a:t>
            </a:r>
            <a:r>
              <a:rPr lang="es-ES" sz="1400" dirty="0"/>
              <a:t> y </a:t>
            </a:r>
            <a:r>
              <a:rPr lang="es-ES" sz="1400" dirty="0" err="1"/>
              <a:t>PriceLabs</a:t>
            </a:r>
            <a:r>
              <a:rPr lang="es-ES" sz="1400" dirty="0"/>
              <a:t>.</a:t>
            </a:r>
          </a:p>
          <a:p>
            <a:pPr marL="0" indent="0">
              <a:buNone/>
            </a:pPr>
            <a:endParaRPr sz="2200" dirty="0">
              <a:solidFill>
                <a:srgbClr val="3C3C3C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46580B-EBF9-73C5-E5B7-312F284534AB}"/>
              </a:ext>
            </a:extLst>
          </p:cNvPr>
          <p:cNvSpPr txBox="1"/>
          <p:nvPr/>
        </p:nvSpPr>
        <p:spPr>
          <a:xfrm>
            <a:off x="181780" y="1980321"/>
            <a:ext cx="41433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1E3296"/>
                </a:solidFill>
              </a:rPr>
              <a:t>Mayor competencia entre anfitriones y propiedades</a:t>
            </a:r>
          </a:p>
          <a:p>
            <a:pPr algn="ctr"/>
            <a:r>
              <a:rPr lang="es-ES" sz="1400" dirty="0"/>
              <a:t>El incremento de la oferta hace que los anfitriones compitan más por visibilidad, </a:t>
            </a:r>
            <a:r>
              <a:rPr lang="es-ES" sz="1400" dirty="0" err="1"/>
              <a:t>reviews</a:t>
            </a:r>
            <a:r>
              <a:rPr lang="es-ES" sz="1400" dirty="0"/>
              <a:t> y precio, obligando a optimizar características y valor percibido.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2A60FE-BE25-588C-B564-A4024C1F01D6}"/>
              </a:ext>
            </a:extLst>
          </p:cNvPr>
          <p:cNvSpPr txBox="1"/>
          <p:nvPr/>
        </p:nvSpPr>
        <p:spPr>
          <a:xfrm>
            <a:off x="4792558" y="2006156"/>
            <a:ext cx="43251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1E3296"/>
                </a:solidFill>
              </a:rPr>
              <a:t>Un mercado económicamente relevante y en expansión</a:t>
            </a:r>
            <a:endParaRPr lang="es-ES" sz="1400" b="1" dirty="0"/>
          </a:p>
          <a:p>
            <a:pPr algn="ctr"/>
            <a:r>
              <a:rPr lang="es-ES" sz="1400" dirty="0"/>
              <a:t>El alquiler turístico genera miles de millones en España cada año, consolidando a este sector como un motor clave y altamente atractivo para propietarios.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7C45C6D-B3D3-A113-33CA-6D0A8CA288CD}"/>
              </a:ext>
            </a:extLst>
          </p:cNvPr>
          <p:cNvSpPr txBox="1"/>
          <p:nvPr/>
        </p:nvSpPr>
        <p:spPr>
          <a:xfrm>
            <a:off x="512064" y="946673"/>
            <a:ext cx="8202168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i="1" dirty="0">
                <a:solidFill>
                  <a:srgbClr val="1E3296"/>
                </a:solidFill>
              </a:rPr>
              <a:t>Los datos del mercado muestran que la oferta de viviendas turísticas en Madrid ha crecido rápidamente, intensificando la competencia y consolidando al sector como un motor económico relevante.</a:t>
            </a:r>
            <a:endParaRPr lang="es-AR" b="1" i="1" dirty="0">
              <a:solidFill>
                <a:srgbClr val="1E3296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7276CA-049B-EDD0-E192-57B59C789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837" y="4437023"/>
            <a:ext cx="2880000" cy="195517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60C41A8-47C8-B5B3-0634-9DEB9CE92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847" y="4437023"/>
            <a:ext cx="2986306" cy="19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D41B02E-B753-F20B-46F8-EE6220509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3" y="4437023"/>
            <a:ext cx="2880000" cy="1853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849"/>
            <a:ext cx="8229600" cy="1143000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rgbClr val="1E3296"/>
                </a:solidFill>
              </a:rPr>
              <a:t>Cuestión bajo análisis</a:t>
            </a:r>
            <a:endParaRPr sz="3600" b="1" dirty="0">
              <a:solidFill>
                <a:srgbClr val="1E329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052" y="2148841"/>
            <a:ext cx="8311896" cy="1216151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ES" sz="2400" b="0" dirty="0">
                <a:solidFill>
                  <a:srgbClr val="000000"/>
                </a:solidFill>
                <a:effectLst/>
                <a:latin typeface="+mj-lt"/>
              </a:rPr>
              <a:t>  ¿Qué puedo hacer para optimizar el precio de mis viviendas?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849"/>
            <a:ext cx="8229600" cy="1143000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rgbClr val="1E3296"/>
                </a:solidFill>
              </a:rPr>
              <a:t>Alcance del análisis: filtro aplicado</a:t>
            </a:r>
            <a:endParaRPr sz="3600" b="1" dirty="0">
              <a:solidFill>
                <a:srgbClr val="1E3296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A18B7D-E792-71EE-CCBC-ED247FBB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349849"/>
            <a:ext cx="3181794" cy="5134771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275B257-40CA-20D9-44EE-854E8C1DB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496" y="1458536"/>
            <a:ext cx="4617720" cy="122980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Eliminamos del análisis los barrios que tienen menos del </a:t>
            </a:r>
            <a:r>
              <a:rPr lang="es-ES" b="1" dirty="0">
                <a:solidFill>
                  <a:schemeClr val="tx2"/>
                </a:solidFill>
              </a:rPr>
              <a:t>3% </a:t>
            </a:r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del total de propiedades listada.</a:t>
            </a:r>
          </a:p>
          <a:p>
            <a:pPr marL="0" indent="0" algn="ctr">
              <a:buNone/>
            </a:pPr>
            <a:r>
              <a:rPr lang="es-E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Quedando dentro del alcance del análisis los siguientes barrios:</a:t>
            </a:r>
            <a:endParaRPr lang="es-AR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691A0EC-F371-6E9B-D035-96926BA59486}"/>
              </a:ext>
            </a:extLst>
          </p:cNvPr>
          <p:cNvSpPr/>
          <p:nvPr/>
        </p:nvSpPr>
        <p:spPr>
          <a:xfrm>
            <a:off x="3730752" y="3666744"/>
            <a:ext cx="1243584" cy="46634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98D85A-4EB1-2529-C040-BAB6935F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80" y="2920538"/>
            <a:ext cx="3105583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0974"/>
            <a:ext cx="8485632" cy="722376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rgbClr val="1E3296"/>
                </a:solidFill>
              </a:rPr>
              <a:t>Alcance: hipótesis a investigar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94A4F6-60AA-7AEE-F85C-AD593E6571AF}"/>
              </a:ext>
            </a:extLst>
          </p:cNvPr>
          <p:cNvSpPr txBox="1"/>
          <p:nvPr/>
        </p:nvSpPr>
        <p:spPr>
          <a:xfrm>
            <a:off x="521208" y="1348524"/>
            <a:ext cx="3849624" cy="2031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800" u="sng" dirty="0">
                <a:solidFill>
                  <a:srgbClr val="3C3C3C"/>
                </a:solidFill>
              </a:rPr>
              <a:t>Los AMENITIES de confort influyen en el precio de cada barrio a analizar:</a:t>
            </a:r>
          </a:p>
          <a:p>
            <a:endParaRPr lang="es-ES" sz="1800" dirty="0">
              <a:solidFill>
                <a:srgbClr val="3C3C3C"/>
              </a:solidFill>
            </a:endParaRPr>
          </a:p>
          <a:p>
            <a:r>
              <a:rPr lang="es-ES" dirty="0">
                <a:solidFill>
                  <a:srgbClr val="3C3C3C"/>
                </a:solidFill>
              </a:rPr>
              <a:t>1 – Wifi (Internet)</a:t>
            </a:r>
          </a:p>
          <a:p>
            <a:r>
              <a:rPr lang="es-ES" sz="1800" dirty="0">
                <a:solidFill>
                  <a:srgbClr val="3C3C3C"/>
                </a:solidFill>
              </a:rPr>
              <a:t>2 – Aire acondicionado</a:t>
            </a:r>
          </a:p>
          <a:p>
            <a:r>
              <a:rPr lang="es-ES" dirty="0">
                <a:solidFill>
                  <a:srgbClr val="3C3C3C"/>
                </a:solidFill>
              </a:rPr>
              <a:t>3 – Calefacción (</a:t>
            </a:r>
            <a:r>
              <a:rPr lang="es-ES" dirty="0" err="1">
                <a:solidFill>
                  <a:srgbClr val="3C3C3C"/>
                </a:solidFill>
              </a:rPr>
              <a:t>heating</a:t>
            </a:r>
            <a:r>
              <a:rPr lang="es-ES" dirty="0">
                <a:solidFill>
                  <a:srgbClr val="3C3C3C"/>
                </a:solidFill>
              </a:rPr>
              <a:t>)</a:t>
            </a:r>
          </a:p>
          <a:p>
            <a:r>
              <a:rPr lang="es-ES" sz="1800" dirty="0">
                <a:solidFill>
                  <a:srgbClr val="3C3C3C"/>
                </a:solidFill>
              </a:rPr>
              <a:t>4 – TV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5739B3-8602-E638-28C1-72028941541B}"/>
              </a:ext>
            </a:extLst>
          </p:cNvPr>
          <p:cNvSpPr txBox="1"/>
          <p:nvPr/>
        </p:nvSpPr>
        <p:spPr>
          <a:xfrm>
            <a:off x="5038344" y="1314904"/>
            <a:ext cx="3447288" cy="2031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800" u="sng" dirty="0">
                <a:solidFill>
                  <a:srgbClr val="3C3C3C"/>
                </a:solidFill>
              </a:rPr>
              <a:t>Las condiciones de reserva afectan al precio:</a:t>
            </a:r>
          </a:p>
          <a:p>
            <a:endParaRPr lang="es-ES" sz="1800" u="sng" dirty="0">
              <a:solidFill>
                <a:srgbClr val="3C3C3C"/>
              </a:solidFill>
            </a:endParaRPr>
          </a:p>
          <a:p>
            <a:r>
              <a:rPr lang="es-ES" dirty="0">
                <a:solidFill>
                  <a:srgbClr val="3C3C3C"/>
                </a:solidFill>
              </a:rPr>
              <a:t>1 – Política de cancelación</a:t>
            </a:r>
          </a:p>
          <a:p>
            <a:r>
              <a:rPr lang="es-ES" sz="1800" dirty="0">
                <a:solidFill>
                  <a:srgbClr val="3C3C3C"/>
                </a:solidFill>
              </a:rPr>
              <a:t>2 – Requerir foto de perfil</a:t>
            </a:r>
          </a:p>
          <a:p>
            <a:endParaRPr lang="es-ES" dirty="0">
              <a:solidFill>
                <a:srgbClr val="3C3C3C"/>
              </a:solidFill>
            </a:endParaRPr>
          </a:p>
          <a:p>
            <a:endParaRPr lang="es-ES" sz="1800" dirty="0">
              <a:solidFill>
                <a:srgbClr val="3C3C3C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F79831-C355-3EC7-5372-A290D1F220B7}"/>
              </a:ext>
            </a:extLst>
          </p:cNvPr>
          <p:cNvSpPr txBox="1"/>
          <p:nvPr/>
        </p:nvSpPr>
        <p:spPr>
          <a:xfrm>
            <a:off x="2647188" y="3778365"/>
            <a:ext cx="3447288" cy="230832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s-ES" sz="1800" u="sng" dirty="0">
                <a:solidFill>
                  <a:srgbClr val="3C3C3C"/>
                </a:solidFill>
              </a:rPr>
              <a:t>Las calificaciones/scores de </a:t>
            </a:r>
            <a:r>
              <a:rPr lang="es-ES" u="sng" dirty="0" err="1">
                <a:solidFill>
                  <a:srgbClr val="3C3C3C"/>
                </a:solidFill>
              </a:rPr>
              <a:t>r</a:t>
            </a:r>
            <a:r>
              <a:rPr lang="es-ES" sz="1800" u="sng" dirty="0" err="1">
                <a:solidFill>
                  <a:srgbClr val="3C3C3C"/>
                </a:solidFill>
              </a:rPr>
              <a:t>eviews</a:t>
            </a:r>
            <a:r>
              <a:rPr lang="es-ES" sz="1800" u="sng" dirty="0">
                <a:solidFill>
                  <a:srgbClr val="3C3C3C"/>
                </a:solidFill>
              </a:rPr>
              <a:t> en plataforma afectan al precio por noche:</a:t>
            </a:r>
          </a:p>
          <a:p>
            <a:endParaRPr lang="es-ES" sz="1800" dirty="0">
              <a:solidFill>
                <a:srgbClr val="3C3C3C"/>
              </a:solidFill>
            </a:endParaRPr>
          </a:p>
          <a:p>
            <a:r>
              <a:rPr lang="es-ES" dirty="0">
                <a:solidFill>
                  <a:srgbClr val="3C3C3C"/>
                </a:solidFill>
              </a:rPr>
              <a:t>1 – Calificación en </a:t>
            </a:r>
            <a:r>
              <a:rPr lang="es-ES" dirty="0" err="1">
                <a:solidFill>
                  <a:srgbClr val="3C3C3C"/>
                </a:solidFill>
              </a:rPr>
              <a:t>check</a:t>
            </a:r>
            <a:r>
              <a:rPr lang="es-ES" dirty="0">
                <a:solidFill>
                  <a:srgbClr val="3C3C3C"/>
                </a:solidFill>
              </a:rPr>
              <a:t>-in</a:t>
            </a:r>
          </a:p>
          <a:p>
            <a:r>
              <a:rPr lang="es-ES" dirty="0">
                <a:solidFill>
                  <a:srgbClr val="3C3C3C"/>
                </a:solidFill>
              </a:rPr>
              <a:t>2 – Calificación en comunicación</a:t>
            </a:r>
          </a:p>
          <a:p>
            <a:r>
              <a:rPr lang="es-ES" dirty="0">
                <a:solidFill>
                  <a:srgbClr val="3C3C3C"/>
                </a:solidFill>
              </a:rPr>
              <a:t>3 - Calificación en limpieza</a:t>
            </a:r>
          </a:p>
          <a:p>
            <a:endParaRPr lang="es-A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1474"/>
          </a:xfrm>
        </p:spPr>
        <p:txBody>
          <a:bodyPr>
            <a:normAutofit fontScale="90000"/>
          </a:bodyPr>
          <a:lstStyle/>
          <a:p>
            <a:r>
              <a:rPr lang="es-ES" sz="4000" b="1" dirty="0" err="1">
                <a:solidFill>
                  <a:srgbClr val="1E3296"/>
                </a:solidFill>
              </a:rPr>
              <a:t>Amenities</a:t>
            </a:r>
            <a:r>
              <a:rPr lang="es-ES" sz="4000" b="1" dirty="0">
                <a:solidFill>
                  <a:srgbClr val="1E3296"/>
                </a:solidFill>
              </a:rPr>
              <a:t> – Wifi (internet)</a:t>
            </a:r>
            <a:endParaRPr sz="4000" b="1" dirty="0">
              <a:solidFill>
                <a:srgbClr val="1E3296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B9A7F0F-B00D-05E6-2E11-4359D178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90388"/>
            <a:ext cx="8394192" cy="114299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FF0000"/>
                </a:solidFill>
              </a:rPr>
              <a:t>Según podemos observar en los gráficos, el precio por noche en los barrios seleccionados no viene explicado por la </a:t>
            </a:r>
            <a:r>
              <a:rPr lang="es-ES" sz="2000" dirty="0" err="1">
                <a:solidFill>
                  <a:srgbClr val="FF0000"/>
                </a:solidFill>
              </a:rPr>
              <a:t>amenitie</a:t>
            </a:r>
            <a:r>
              <a:rPr lang="es-ES" sz="2000" dirty="0">
                <a:solidFill>
                  <a:srgbClr val="FF0000"/>
                </a:solidFill>
              </a:rPr>
              <a:t> “Wifi”. Por lo tanto no es un factor relevante para la toma de decisiones. No hay diferencias relevantes entre propiedades con y sin wifi.</a:t>
            </a:r>
            <a:endParaRPr lang="es-AR" sz="2000" dirty="0">
              <a:solidFill>
                <a:srgbClr val="FF000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B54CBC6-407F-8F38-6D99-70DF29BD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09" y="930009"/>
            <a:ext cx="7485182" cy="4426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1474"/>
          </a:xfrm>
        </p:spPr>
        <p:txBody>
          <a:bodyPr>
            <a:normAutofit fontScale="90000"/>
          </a:bodyPr>
          <a:lstStyle/>
          <a:p>
            <a:r>
              <a:rPr lang="es-ES" sz="4000" b="1" dirty="0" err="1">
                <a:solidFill>
                  <a:srgbClr val="1E3296"/>
                </a:solidFill>
              </a:rPr>
              <a:t>Amenities</a:t>
            </a:r>
            <a:r>
              <a:rPr lang="es-ES" sz="4000" b="1" dirty="0">
                <a:solidFill>
                  <a:srgbClr val="1E3296"/>
                </a:solidFill>
              </a:rPr>
              <a:t> – Aire acondicionado</a:t>
            </a:r>
            <a:endParaRPr sz="4000" b="1" dirty="0">
              <a:solidFill>
                <a:srgbClr val="1E3296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B9A7F0F-B00D-05E6-2E11-4359D178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22075"/>
            <a:ext cx="8394192" cy="1142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00B050"/>
                </a:solidFill>
              </a:rPr>
              <a:t>Contar con aire acondicionado tiene un efecto muy positivo sobre el precio por noche. Esto lo vemos que es un factor común para todos los barrios bajo análisis.</a:t>
            </a:r>
            <a:endParaRPr lang="es-AR" sz="2000" dirty="0">
              <a:solidFill>
                <a:srgbClr val="00B05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2D8CDB-1425-57B5-EA5D-817C60B0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5469"/>
            <a:ext cx="8001000" cy="431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88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1474"/>
          </a:xfrm>
        </p:spPr>
        <p:txBody>
          <a:bodyPr>
            <a:normAutofit fontScale="90000"/>
          </a:bodyPr>
          <a:lstStyle/>
          <a:p>
            <a:r>
              <a:rPr lang="es-ES" sz="4000" b="1" dirty="0" err="1">
                <a:solidFill>
                  <a:srgbClr val="1E3296"/>
                </a:solidFill>
              </a:rPr>
              <a:t>Amenities</a:t>
            </a:r>
            <a:r>
              <a:rPr lang="es-ES" sz="4000" b="1" dirty="0">
                <a:solidFill>
                  <a:srgbClr val="1E3296"/>
                </a:solidFill>
              </a:rPr>
              <a:t> – Calefacción (</a:t>
            </a:r>
            <a:r>
              <a:rPr lang="es-ES" sz="4000" b="1" dirty="0" err="1">
                <a:solidFill>
                  <a:srgbClr val="1E3296"/>
                </a:solidFill>
              </a:rPr>
              <a:t>heating</a:t>
            </a:r>
            <a:r>
              <a:rPr lang="es-ES" sz="4000" b="1" dirty="0">
                <a:solidFill>
                  <a:srgbClr val="1E3296"/>
                </a:solidFill>
              </a:rPr>
              <a:t>)</a:t>
            </a:r>
            <a:endParaRPr sz="4000" b="1" dirty="0">
              <a:solidFill>
                <a:srgbClr val="1E3296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B9A7F0F-B00D-05E6-2E11-4359D178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90388"/>
            <a:ext cx="8394192" cy="1142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00B050"/>
                </a:solidFill>
              </a:rPr>
              <a:t>Contar con calefacción tiene un efecto muy positivo sobre el precio por noche en casi todos los barrios bajo análisis, a excepción de Arganzuela y Tetuán.</a:t>
            </a:r>
            <a:endParaRPr lang="es-AR" sz="2000" dirty="0">
              <a:solidFill>
                <a:srgbClr val="00B05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42F86C-DD59-CCF6-B318-F23C05369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6112"/>
            <a:ext cx="7991856" cy="425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2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1474"/>
          </a:xfrm>
        </p:spPr>
        <p:txBody>
          <a:bodyPr>
            <a:normAutofit fontScale="90000"/>
          </a:bodyPr>
          <a:lstStyle/>
          <a:p>
            <a:r>
              <a:rPr lang="es-ES" sz="4000" b="1" dirty="0" err="1">
                <a:solidFill>
                  <a:srgbClr val="1E3296"/>
                </a:solidFill>
              </a:rPr>
              <a:t>Amenities</a:t>
            </a:r>
            <a:r>
              <a:rPr lang="es-ES" sz="4000" b="1" dirty="0">
                <a:solidFill>
                  <a:srgbClr val="1E3296"/>
                </a:solidFill>
              </a:rPr>
              <a:t> - TV</a:t>
            </a:r>
            <a:endParaRPr sz="4000" b="1" dirty="0">
              <a:solidFill>
                <a:srgbClr val="1E3296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B9A7F0F-B00D-05E6-2E11-4359D178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40363"/>
            <a:ext cx="8394192" cy="1142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00B050"/>
                </a:solidFill>
              </a:rPr>
              <a:t>Contar con TV tiene un efecto muy positivo sobre el precio por noche. Esto lo vemos que es un factor común para todos los barrios bajo análisis.</a:t>
            </a:r>
            <a:endParaRPr lang="es-AR" sz="2000" dirty="0">
              <a:solidFill>
                <a:srgbClr val="00B05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07F49B-EF1E-BCEB-8D5D-8924C4C4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5" y="896112"/>
            <a:ext cx="8067749" cy="429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6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 err="1">
                <a:solidFill>
                  <a:srgbClr val="1E3296"/>
                </a:solidFill>
              </a:rPr>
              <a:t>Conditions</a:t>
            </a:r>
            <a:r>
              <a:rPr sz="4000" b="1" dirty="0">
                <a:solidFill>
                  <a:srgbClr val="1E3296"/>
                </a:solidFill>
              </a:rPr>
              <a:t> </a:t>
            </a:r>
            <a:r>
              <a:rPr lang="es-ES" sz="4000" b="1" dirty="0">
                <a:solidFill>
                  <a:srgbClr val="1E3296"/>
                </a:solidFill>
              </a:rPr>
              <a:t>– Política de cancelación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8F475F9-C9F6-4687-1C0F-FD1268F5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1" y="1166497"/>
            <a:ext cx="4131051" cy="26320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FC0AB9-DC6C-8CFF-233D-34080AAF0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166497"/>
            <a:ext cx="4024194" cy="2632071"/>
          </a:xfrm>
          <a:prstGeom prst="rect">
            <a:avLst/>
          </a:prstGeom>
        </p:spPr>
      </p:pic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9E47E655-11CE-BD6E-0FEF-75AB60E7C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7622" y="3959353"/>
            <a:ext cx="4131051" cy="2761488"/>
          </a:xfr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47DF2FA-4E18-AEC2-94C7-217C96A35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951291"/>
            <a:ext cx="4024194" cy="2769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 err="1">
                <a:solidFill>
                  <a:srgbClr val="1E3296"/>
                </a:solidFill>
              </a:rPr>
              <a:t>Conditions</a:t>
            </a:r>
            <a:r>
              <a:rPr sz="4000" b="1" dirty="0">
                <a:solidFill>
                  <a:srgbClr val="1E3296"/>
                </a:solidFill>
              </a:rPr>
              <a:t> </a:t>
            </a:r>
            <a:r>
              <a:rPr lang="es-ES" sz="4000" b="1" dirty="0">
                <a:solidFill>
                  <a:srgbClr val="1E3296"/>
                </a:solidFill>
              </a:rPr>
              <a:t>– Política de cancelación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2B383E-E6A0-DB55-72DA-8610B34FB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90" y="1417638"/>
            <a:ext cx="3708771" cy="23956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147D96F-04B1-8038-9D6E-5EC3E23AE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518" y="1417637"/>
            <a:ext cx="4021282" cy="239566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DC08E6D-1B9B-9F74-FB98-9DE0DA11D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90" y="4050155"/>
            <a:ext cx="3708771" cy="2395665"/>
          </a:xfrm>
          <a:prstGeom prst="rect">
            <a:avLst/>
          </a:prstGeom>
        </p:spPr>
      </p:pic>
      <p:sp>
        <p:nvSpPr>
          <p:cNvPr id="14" name="Marcador de contenido 4">
            <a:extLst>
              <a:ext uri="{FF2B5EF4-FFF2-40B4-BE49-F238E27FC236}">
                <a16:creationId xmlns:a16="http://schemas.microsoft.com/office/drawing/2014/main" id="{9A556AD2-CB18-21E1-0E9F-BBC237615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4187698"/>
            <a:ext cx="4279392" cy="24234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FF0000"/>
                </a:solidFill>
              </a:rPr>
              <a:t>Como se observa en las gráficas, la política de cancelación de reservas no es un aspecto clave que explique diferencias de precios muy marcadas.</a:t>
            </a:r>
            <a:endParaRPr lang="es-A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7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 err="1">
                <a:solidFill>
                  <a:srgbClr val="1E3296"/>
                </a:solidFill>
              </a:rPr>
              <a:t>Conditions</a:t>
            </a:r>
            <a:r>
              <a:rPr lang="es-ES" sz="4000" b="1" dirty="0">
                <a:solidFill>
                  <a:srgbClr val="1E3296"/>
                </a:solidFill>
              </a:rPr>
              <a:t> – Requerir foto de perfil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BC9A86-D979-4D8C-DB54-F109056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3" y="1328237"/>
            <a:ext cx="4017240" cy="24768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8409B4-97EA-1221-6341-B596712B3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78" y="1328237"/>
            <a:ext cx="3860522" cy="24768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6378DA8-60FA-71D8-ED82-121D9A977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81" y="3957009"/>
            <a:ext cx="4017241" cy="26263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B0DE7E2-4950-BC65-CE24-6E4021315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278" y="3957009"/>
            <a:ext cx="3860522" cy="262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6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 err="1">
                <a:solidFill>
                  <a:srgbClr val="1E3296"/>
                </a:solidFill>
              </a:rPr>
              <a:t>Conditions</a:t>
            </a:r>
            <a:r>
              <a:rPr lang="es-ES" sz="4000" b="1" dirty="0">
                <a:solidFill>
                  <a:srgbClr val="1E3296"/>
                </a:solidFill>
              </a:rPr>
              <a:t> – Requerir foto de perfil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5DD8B3-E9A3-8D18-B939-F245990DD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4" y="1280987"/>
            <a:ext cx="3947785" cy="25615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F49DCC1-0B60-5ABE-9D6C-104C796C0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60" y="1317563"/>
            <a:ext cx="4050740" cy="25615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4876AE7-EC03-43F3-6D2C-7CFFE6A03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34" y="4005072"/>
            <a:ext cx="3947785" cy="2653608"/>
          </a:xfrm>
          <a:prstGeom prst="rect">
            <a:avLst/>
          </a:prstGeom>
        </p:spPr>
      </p:pic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7586CF20-0A4A-33AE-7641-76C1ABE2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4187698"/>
            <a:ext cx="4279392" cy="24234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chemeClr val="accent6">
                    <a:lumMod val="75000"/>
                  </a:schemeClr>
                </a:solidFill>
              </a:rPr>
              <a:t>En general este requisito no aumenta el precio por noche. En Chamberí, Arganzuela y Retiro se observa que puede tener un efecto positivo pero no es un patrón muy marcado.</a:t>
            </a:r>
            <a:endParaRPr lang="es-AR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739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solidFill>
                  <a:srgbClr val="1E3296"/>
                </a:solidFill>
              </a:rPr>
              <a:t>Re</a:t>
            </a:r>
            <a:r>
              <a:rPr lang="es-ES" sz="4000" b="1" dirty="0" err="1">
                <a:solidFill>
                  <a:srgbClr val="1E3296"/>
                </a:solidFill>
              </a:rPr>
              <a:t>views</a:t>
            </a:r>
            <a:r>
              <a:rPr sz="4000" b="1" dirty="0">
                <a:solidFill>
                  <a:srgbClr val="1E3296"/>
                </a:solidFill>
              </a:rPr>
              <a:t> — </a:t>
            </a:r>
            <a:r>
              <a:rPr lang="es-ES" sz="4000" b="1" dirty="0">
                <a:solidFill>
                  <a:srgbClr val="1E3296"/>
                </a:solidFill>
              </a:rPr>
              <a:t>Scores en </a:t>
            </a:r>
            <a:r>
              <a:rPr lang="es-ES" sz="4000" b="1" dirty="0" err="1">
                <a:solidFill>
                  <a:srgbClr val="1E3296"/>
                </a:solidFill>
              </a:rPr>
              <a:t>Check</a:t>
            </a:r>
            <a:r>
              <a:rPr lang="es-ES" sz="4000" b="1" dirty="0">
                <a:solidFill>
                  <a:srgbClr val="1E3296"/>
                </a:solidFill>
              </a:rPr>
              <a:t>-in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B9E4B0-69E4-3FBE-6274-AA5E8CC86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8417"/>
            <a:ext cx="3941064" cy="24705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E9DE0E7-6647-910D-1612-0931C2CDA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7" y="1228418"/>
            <a:ext cx="3963028" cy="24705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5B7A98E-C287-788A-4426-E52D59B27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78" y="3867368"/>
            <a:ext cx="3982286" cy="24705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673DFAB-1C49-2E7D-C71B-0780B916B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7" y="3867368"/>
            <a:ext cx="3963027" cy="24705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 err="1">
                <a:solidFill>
                  <a:srgbClr val="1E3296"/>
                </a:solidFill>
              </a:rPr>
              <a:t>Reviews</a:t>
            </a:r>
            <a:r>
              <a:rPr lang="es-AR" sz="4000" b="1" dirty="0">
                <a:solidFill>
                  <a:srgbClr val="1E3296"/>
                </a:solidFill>
              </a:rPr>
              <a:t> — Scores en </a:t>
            </a:r>
            <a:r>
              <a:rPr lang="es-AR" sz="4000" b="1" dirty="0" err="1">
                <a:solidFill>
                  <a:srgbClr val="1E3296"/>
                </a:solidFill>
              </a:rPr>
              <a:t>Check</a:t>
            </a:r>
            <a:r>
              <a:rPr lang="es-AR" sz="4000" b="1" dirty="0">
                <a:solidFill>
                  <a:srgbClr val="1E3296"/>
                </a:solidFill>
              </a:rPr>
              <a:t>-in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2171C8-8D5F-8E39-2B99-1D665A374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82" y="1256996"/>
            <a:ext cx="3733131" cy="247375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6FB5D9D-F78A-BD86-596D-2D3B5054B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64" y="1256995"/>
            <a:ext cx="3857105" cy="247375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A8D4339-B70C-A225-8AC0-11E6DF7E1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82" y="3885705"/>
            <a:ext cx="3733131" cy="2473755"/>
          </a:xfrm>
          <a:prstGeom prst="rect">
            <a:avLst/>
          </a:prstGeom>
        </p:spPr>
      </p:pic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5B803A98-2993-24D8-2A80-CCF5ECC4B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4023106"/>
            <a:ext cx="4279392" cy="24234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FF0000"/>
                </a:solidFill>
              </a:rPr>
              <a:t>Del análisis de los </a:t>
            </a:r>
            <a:r>
              <a:rPr lang="es-ES" sz="2000" dirty="0" err="1">
                <a:solidFill>
                  <a:srgbClr val="FF0000"/>
                </a:solidFill>
              </a:rPr>
              <a:t>boxplots</a:t>
            </a:r>
            <a:r>
              <a:rPr lang="es-ES" sz="2000" dirty="0">
                <a:solidFill>
                  <a:srgbClr val="FF0000"/>
                </a:solidFill>
              </a:rPr>
              <a:t> no se puede concluir que haya una relación directa entre la calificación de </a:t>
            </a:r>
            <a:r>
              <a:rPr lang="es-ES" sz="2000" dirty="0" err="1">
                <a:solidFill>
                  <a:srgbClr val="FF0000"/>
                </a:solidFill>
              </a:rPr>
              <a:t>check</a:t>
            </a:r>
            <a:r>
              <a:rPr lang="es-ES" sz="2000" dirty="0">
                <a:solidFill>
                  <a:srgbClr val="FF0000"/>
                </a:solidFill>
              </a:rPr>
              <a:t>-in y el precio por noche.</a:t>
            </a:r>
            <a:endParaRPr lang="es-A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217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 err="1">
                <a:solidFill>
                  <a:srgbClr val="1E3296"/>
                </a:solidFill>
              </a:rPr>
              <a:t>Reviews</a:t>
            </a:r>
            <a:r>
              <a:rPr lang="es-AR" sz="4000" b="1" dirty="0">
                <a:solidFill>
                  <a:srgbClr val="1E3296"/>
                </a:solidFill>
              </a:rPr>
              <a:t> — Scores en limpieza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38CCE2-E331-B77E-9FF4-65C2F2CE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2233"/>
            <a:ext cx="3866656" cy="23549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BAB2530-3942-5F36-085A-B7FACE2DB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145" y="1252232"/>
            <a:ext cx="3766071" cy="235495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ACA1A41-C936-4D69-0C2C-26890D9F1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55" y="3826645"/>
            <a:ext cx="3950208" cy="256165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81939B8-8282-4850-98F7-A71DC829A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145" y="3826645"/>
            <a:ext cx="3766071" cy="25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61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 err="1">
                <a:solidFill>
                  <a:srgbClr val="1E3296"/>
                </a:solidFill>
              </a:rPr>
              <a:t>Reviews</a:t>
            </a:r>
            <a:r>
              <a:rPr lang="es-AR" sz="4000" b="1" dirty="0">
                <a:solidFill>
                  <a:srgbClr val="1E3296"/>
                </a:solidFill>
              </a:rPr>
              <a:t> — Scores en limpieza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05E49A-9588-3F9E-D766-5CAD72D8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2" y="1182720"/>
            <a:ext cx="3838131" cy="25234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2DAFA2-1838-81A4-8BB1-356C2705E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022" y="1182719"/>
            <a:ext cx="3822738" cy="2542879"/>
          </a:xfrm>
          <a:prstGeom prst="rect">
            <a:avLst/>
          </a:prstGeom>
        </p:spPr>
      </p:pic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1C3A9F3E-4AC6-9D4D-2966-74B1A91B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472" y="4114800"/>
            <a:ext cx="3447288" cy="140785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FF0000"/>
                </a:solidFill>
              </a:rPr>
              <a:t>Del análisis de los </a:t>
            </a:r>
            <a:r>
              <a:rPr lang="es-ES" sz="2000" dirty="0" err="1">
                <a:solidFill>
                  <a:srgbClr val="FF0000"/>
                </a:solidFill>
              </a:rPr>
              <a:t>boxplots</a:t>
            </a:r>
            <a:r>
              <a:rPr lang="es-ES" sz="2000" dirty="0">
                <a:solidFill>
                  <a:srgbClr val="FF0000"/>
                </a:solidFill>
              </a:rPr>
              <a:t> no se puede concluir que haya una relación directa entre la calificación de limpieza y el precio por noche.</a:t>
            </a:r>
            <a:endParaRPr lang="es-AR" sz="2000" dirty="0">
              <a:solidFill>
                <a:srgbClr val="FF0000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A6355BB-67E8-F59B-156C-4F414B765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1" y="3950209"/>
            <a:ext cx="3838132" cy="252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9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9745"/>
          </a:xfrm>
        </p:spPr>
        <p:txBody>
          <a:bodyPr/>
          <a:lstStyle/>
          <a:p>
            <a:r>
              <a:rPr lang="es-AR" sz="4000" b="1" dirty="0" err="1">
                <a:solidFill>
                  <a:srgbClr val="1E3296"/>
                </a:solidFill>
              </a:rPr>
              <a:t>Reviews</a:t>
            </a:r>
            <a:r>
              <a:rPr lang="es-AR" sz="4000" b="1" dirty="0">
                <a:solidFill>
                  <a:srgbClr val="1E3296"/>
                </a:solidFill>
              </a:rPr>
              <a:t> — Scores en comunicación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BCC5B2-F72E-F538-7D36-568AB2CC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4383"/>
            <a:ext cx="3841747" cy="254614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690EC70-4625-8D7E-492D-136CE8D52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66" y="1274383"/>
            <a:ext cx="3970034" cy="25705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B9A04BB-938F-785F-364E-1F6427376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78" y="4063445"/>
            <a:ext cx="3841748" cy="25199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4A1DC48-EFFA-2550-5AED-CCA5582C4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288" y="4038140"/>
            <a:ext cx="3970034" cy="257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04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 err="1">
                <a:solidFill>
                  <a:srgbClr val="1E3296"/>
                </a:solidFill>
              </a:rPr>
              <a:t>Reviews</a:t>
            </a:r>
            <a:r>
              <a:rPr lang="es-AR" sz="4000" b="1" dirty="0">
                <a:solidFill>
                  <a:srgbClr val="1E3296"/>
                </a:solidFill>
              </a:rPr>
              <a:t> — Scores en comunicación</a:t>
            </a:r>
            <a:endParaRPr sz="4000" b="1" dirty="0">
              <a:solidFill>
                <a:srgbClr val="1E3296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C6D905-5896-63EF-42F7-F2C647AE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215428"/>
            <a:ext cx="3705623" cy="25828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384131-7000-FBDE-BD76-CC6463B5F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59" y="1215429"/>
            <a:ext cx="3854511" cy="258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BB198F8-7575-C34B-CEA0-988F22FC5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3882471"/>
            <a:ext cx="3705623" cy="2582861"/>
          </a:xfrm>
          <a:prstGeom prst="rect">
            <a:avLst/>
          </a:prstGeom>
        </p:spPr>
      </p:pic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7685CC26-D774-BD80-DA02-C8A9EEE87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472" y="4114800"/>
            <a:ext cx="3447288" cy="140785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000" dirty="0">
                <a:solidFill>
                  <a:srgbClr val="FF0000"/>
                </a:solidFill>
              </a:rPr>
              <a:t>Del análisis de los </a:t>
            </a:r>
            <a:r>
              <a:rPr lang="es-ES" sz="2000" dirty="0" err="1">
                <a:solidFill>
                  <a:srgbClr val="FF0000"/>
                </a:solidFill>
              </a:rPr>
              <a:t>boxplots</a:t>
            </a:r>
            <a:r>
              <a:rPr lang="es-ES" sz="2000" dirty="0">
                <a:solidFill>
                  <a:srgbClr val="FF0000"/>
                </a:solidFill>
              </a:rPr>
              <a:t> no se puede concluir que haya una relación directa entre la calificación de limpieza y el precio por noche.</a:t>
            </a:r>
            <a:endParaRPr lang="es-A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058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>
                <a:solidFill>
                  <a:srgbClr val="1E3296"/>
                </a:solidFill>
              </a:rPr>
              <a:t>Resultados generales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7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>
                <a:solidFill>
                  <a:srgbClr val="3C3C3C"/>
                </a:solidFill>
                <a:latin typeface="+mj-lt"/>
              </a:rPr>
              <a:t>Para optimizar el precio de alquiler de las propiedades se recomienda:</a:t>
            </a:r>
          </a:p>
          <a:p>
            <a:pPr marL="0" indent="0">
              <a:buNone/>
            </a:pPr>
            <a:endParaRPr lang="es-ES" sz="2000" dirty="0">
              <a:solidFill>
                <a:srgbClr val="3C3C3C"/>
              </a:solidFill>
              <a:latin typeface="+mj-lt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3C3C3C"/>
                </a:solidFill>
                <a:latin typeface="+mj-lt"/>
              </a:rPr>
              <a:t>1 – </a:t>
            </a:r>
            <a:r>
              <a:rPr lang="es-ES" sz="2000" dirty="0">
                <a:latin typeface="+mj-lt"/>
              </a:rPr>
              <a:t>Incluir </a:t>
            </a:r>
            <a:r>
              <a:rPr lang="es-ES" sz="2000" dirty="0" err="1">
                <a:latin typeface="+mj-lt"/>
              </a:rPr>
              <a:t>amenities</a:t>
            </a:r>
            <a:r>
              <a:rPr lang="es-ES" sz="2000" dirty="0">
                <a:latin typeface="+mj-lt"/>
              </a:rPr>
              <a:t> como aire acondicionado, calefacción y TV en aquellas propiedades que actualmente no cuenten con estos servicios.,</a:t>
            </a:r>
          </a:p>
          <a:p>
            <a:pPr marL="0" indent="0">
              <a:buNone/>
            </a:pPr>
            <a:endParaRPr lang="es-ES" sz="2000" dirty="0">
              <a:latin typeface="+mj-lt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3C3C3C"/>
                </a:solidFill>
                <a:latin typeface="+mj-lt"/>
              </a:rPr>
              <a:t>2 – </a:t>
            </a:r>
            <a:r>
              <a:rPr lang="es-ES" sz="2000" dirty="0">
                <a:latin typeface="+mj-lt"/>
              </a:rPr>
              <a:t>Exigir foto de perfil para las propiedades ubicadas en Chamberí, Arganzuela y Retiro.</a:t>
            </a:r>
          </a:p>
          <a:p>
            <a:pPr marL="0" indent="0">
              <a:buNone/>
            </a:pPr>
            <a:endParaRPr lang="es-ES" sz="2000" dirty="0">
              <a:latin typeface="+mj-lt"/>
            </a:endParaRPr>
          </a:p>
          <a:p>
            <a:pPr marL="0" indent="0">
              <a:buNone/>
            </a:pPr>
            <a:endParaRPr lang="es-ES" sz="2000" dirty="0">
              <a:solidFill>
                <a:srgbClr val="3C3C3C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</TotalTime>
  <Words>675</Words>
  <Application>Microsoft Office PowerPoint</Application>
  <PresentationFormat>Presentación en pantalla (4:3)</PresentationFormat>
  <Paragraphs>60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Alquiler turístico en Madrid</vt:lpstr>
      <vt:lpstr>Cuestión bajo análisis</vt:lpstr>
      <vt:lpstr>Alcance del análisis: filtro aplicado</vt:lpstr>
      <vt:lpstr>Alcance: hipótesis a investigar</vt:lpstr>
      <vt:lpstr>Amenities – Wifi (internet)</vt:lpstr>
      <vt:lpstr>Amenities – Aire acondicionado</vt:lpstr>
      <vt:lpstr>Amenities – Calefacción (heating)</vt:lpstr>
      <vt:lpstr>Amenities - TV</vt:lpstr>
      <vt:lpstr>Conditions – Política de cancelación</vt:lpstr>
      <vt:lpstr>Conditions – Política de cancelación</vt:lpstr>
      <vt:lpstr>Conditions – Requerir foto de perfil</vt:lpstr>
      <vt:lpstr>Conditions – Requerir foto de perfil</vt:lpstr>
      <vt:lpstr>Reviews — Scores en Check-in</vt:lpstr>
      <vt:lpstr>Reviews — Scores en Check-in</vt:lpstr>
      <vt:lpstr>Reviews — Scores en limpieza</vt:lpstr>
      <vt:lpstr>Reviews — Scores en limpieza</vt:lpstr>
      <vt:lpstr>Reviews — Scores en comunicación</vt:lpstr>
      <vt:lpstr>Reviews — Scores en comunicación</vt:lpstr>
      <vt:lpstr>Resultados generales y 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Matias Kusa</dc:creator>
  <cp:keywords/>
  <dc:description>generated using python-pptx</dc:description>
  <cp:lastModifiedBy>Matías Caleb Kusa</cp:lastModifiedBy>
  <cp:revision>10</cp:revision>
  <dcterms:created xsi:type="dcterms:W3CDTF">2013-01-27T09:14:16Z</dcterms:created>
  <dcterms:modified xsi:type="dcterms:W3CDTF">2025-11-23T17:02:37Z</dcterms:modified>
  <cp:category/>
</cp:coreProperties>
</file>